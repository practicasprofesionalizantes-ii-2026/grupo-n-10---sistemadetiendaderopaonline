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1:00. Apertura: presentar F&amp;R como proyecto académico para una tienda de indumentaria. Idea: la experiencia de compra y la gestión del comercio están conectadas. Mostrar la portada con esta diapositiva; pasar a la siguiente con la pregunta disparadora.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1:30. Pregunta disparadora: ¿cómo puede una tienda de ropa ampliar su alcance sin que productos, pedidos y stock queden desorganizados? La documentación plantea la falta de presencia digital como problema y menciona el crecimiento del comercio electrónico como oportunidad. Aclarar que la necesidad es el punto de partida del proyecto, no un estudio cuantitativo de mercado. Transición: presentar la solución.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1:00. F&amp;R conecta dos recorridos: el cliente consulta y compra; el administrador mantiene el catálogo. Mostrar la captura real del catálogo como evidencia. No prometer integraciones externas, personalización por comercio ni procesamiento bancario. Transición: explicar cómo viaja la operación.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2:00. Describir el camino sencillo: interfaz MVC/Razor, comunicación HTTP con la API, lógica/servicios y persistencia con Entity Framework Core en SQL Server. Tecnologías según los proyectos y análisis técnico. Si se pregunta por código, mostrar brevemente HomeController.Catalogo, ProductoController o PedidoEndpoints y PedidoService, sin recorrer archivos extensos. La API se desarrolla con Minimal APIs. Transición: mostrar cómo se expresan las funciones en requisitos y casos de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2:00. Presentar cada fila como necesidad → acción del actor → evidencia en código y pantalla. RF 9.1 recoge la gestión de productos; resultado observable: producto aparece o cambia en la lista/catálogo. RF 9.2 muestra filtro y resultado. RF 9.3 requiere una precisión: la interfaz diferencia roles, pero la autorización de API no está aplicada de forma uniforme según el análisis del código; describirlo como navegación diferenciada, no como seguridad completa. Los casos de uso aquí y en la siguiente diapositiva son propuestas de exposición, pues el PDF solo enumera requerimientos. Las pantallas y archivos citados existen en 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2:00. RF 9.4 enlaza el carrito con la creación del pedido; explicar que el pago actual simula la operación y no conecta a una pasarela. RF 9.5 enlaza el historial con la consulta de estado/detalle. Código: CarritoController, CheckoutController, ClienteController.MisCompras y PedidoEndpoints. Mostrar la evidencia en vivo en los siguientes minutos. Los CU-P4 y CU-P5 se proponen porque el documento no proporciona identificadores o fichas de casos de uso.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5:00 INCLUYE TRANSICIONES. En esta diapositiva pasar del PowerPoint al navegador. Orden: (1) abrir catálogo; usar categoría/color/talle y aplicar filtros; (2) abrir un producto; mostrar talle, color, stock, cantidad y botón de agregar; (3) abrir carrito, señalar artículo, control de cantidad y total; (4) solo si está preparado un usuario de demostración y el flujo es estable, finalizar una compra de prueba con datos ficticios, sin datos reales de tarjeta; (5) abrir Mis compras y señalar número/estado/total/detalle. Aclarar que el checkout es simulación. Volver a la presentación al terminar. Preparar previamente backend, frontend, base con datos de demostración y una sesión de cliente válida. No inventar credenciales: usar las que el estudiante ya tenga y comprobarlas antes de exponer. Si falla el cierre, mostrar carrito e historial ya existente en la captura como referencia y no improvisar una compra. Código opcional: HomeController.Catalogo, CarritoController y CheckoutController, solo si lo pregunta el profesor.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2:30. Mostrar brevemente la pantalla real de gestión de productos (aprox. 45 segundos), sin modificar datos en el vivo. Explicar los cinco NFR como ‘contemplados’ con su evidencia, no como certificaciones o cumplimiento medido. Seguridad: repositorio usa BCrypt y hay HTTPS redirection y tokens declarados/generados, pero el backend no demuestra autorización uniforme; no calificar el producto como seguro integralmente. Usabilidad: Bootstrap responsivo sí aparece; accesibilidad necesita revisión. Modularidad/mantenibilidad: separación FRFront/FYR-API y servicios/repositorios/DTOs. Persistencia: EF Core y SQL Server. El PDF pide además HTTPS, MFA, alto rendimiento, disponibilidad, backups, integración oficial de pagos; no afirmar que se cumplan sin evidencia. Para mostrar código: AuthService BCrypt, Program.cs y endpoints puntuales.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1:30. Resumir logros apoyados por código y capturas: catálogo filtrable, gestión de producto, carrito, pedido e historial. Mejoras documentadas: talles/medidas y varias fotos. Otras mejoras técnicas respaldadas por brechas del análisis: proveedor real de pago, robustecer autorización y aislamiento multiempresa, transacciones/idempotencia y pruebas. Concluir con una oportunidad concreta: el sistema ya demuestra el flujo base de tienda, y la evolución debe priorizar seguridad y confiabilidad antes de escalarlo como servicio comercial. Agradecer y abrir preguntas. La formal termina aquí; restan hasta 10 minutos opcionales.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TIEMPO 1:30 (incluido en el total de 20 minutos). Cerrar la exposición y habilitar preguntas. Los 10 minutos posteriores son margen independiente, no parte del discurso formal obligatorio.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36576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D7432"/>
                </a:solidFill>
                <a:latin typeface="Aptos"/>
              </a:defRPr>
            </a:pPr>
            <a:r>
              <a:t>ICES  ·  PROYECTO ACADÉMICO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5120640" cy="11430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5600" b="1">
                <a:solidFill>
                  <a:srgbClr val="FFFFFF"/>
                </a:solidFill>
                <a:latin typeface="Aptos"/>
              </a:defRPr>
            </a:pPr>
            <a:r>
              <a:t>F&amp;R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560320"/>
            <a:ext cx="49377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Una tienda de ropa online</a:t>
            </a:r>
          </a:p>
          <a:p>
            <a:pPr>
              <a:spcAft>
                <a:spcPts val="3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con gestión integrada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440680"/>
            <a:ext cx="475488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D7D7D7"/>
                </a:solidFill>
                <a:latin typeface="Aptos"/>
              </a:defRPr>
            </a:pPr>
            <a:r>
              <a:t>De descubrir una prenda a administrar el catálogo</a:t>
            </a:r>
          </a:p>
        </p:txBody>
      </p:sp>
      <p:pic>
        <p:nvPicPr>
          <p:cNvPr id="7" name="Picture 6" descr="cata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292095"/>
            <a:ext cx="5440680" cy="23992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4672" y="6355080"/>
            <a:ext cx="5029200" cy="21945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BEBEBE"/>
                </a:solidFill>
                <a:latin typeface="Aptos"/>
              </a:defRPr>
            </a:pPr>
            <a:r>
              <a:t>Exposición formal  ·  20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6868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DD7432"/>
                </a:solidFill>
                <a:latin typeface="Aptos"/>
              </a:defRPr>
            </a:pPr>
            <a:r>
              <a:t>01  ·  PROBLEMA Y OPORTUNIDAD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61616"/>
                </a:solidFill>
                <a:latin typeface="Aptos"/>
              </a:defRPr>
            </a:pPr>
            <a:r>
              <a:t>¿Cómo vender online sin perder el control de la tienda?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384048" cy="41148"/>
          </a:xfrm>
          <a:prstGeom prst="rect">
            <a:avLst/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412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696A6C"/>
                </a:solidFill>
                <a:latin typeface="Aptos"/>
              </a:defRPr>
            </a:pPr>
            <a:r>
              <a:t>F&amp;R  ·  Sistema de tienda de ropa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6A6C"/>
                </a:solidFill>
                <a:latin typeface="Aptos"/>
              </a:defRPr>
            </a:pPr>
            <a:r>
              <a:t>1:30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457200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D7432"/>
                </a:solidFill>
                <a:latin typeface="Aptos"/>
              </a:defRPr>
            </a:pPr>
            <a:r>
              <a:t>OPORTUNIDAD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4572000" cy="11887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161616"/>
                </a:solidFill>
                <a:latin typeface="Aptos"/>
              </a:defRPr>
            </a:pPr>
            <a:r>
              <a:t>Llegar a más clientes y ofrecer un catálogo disponible en la web.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627632"/>
            <a:ext cx="530352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D7432"/>
                </a:solidFill>
                <a:latin typeface="Aptos"/>
              </a:defRPr>
            </a:pPr>
            <a:r>
              <a:t>FRICCIONES QUE F&amp;R ABORDA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130552"/>
            <a:ext cx="91440" cy="91440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7" y="2029968"/>
            <a:ext cx="5102352" cy="6309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61616"/>
                </a:solidFill>
                <a:latin typeface="Aptos"/>
              </a:defRPr>
            </a:pPr>
            <a:r>
              <a:t>Productos dispersos o difíciles de consultar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788920"/>
            <a:ext cx="91440" cy="91440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2688336"/>
            <a:ext cx="5102352" cy="6309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61616"/>
                </a:solidFill>
                <a:latin typeface="Aptos"/>
              </a:defRPr>
            </a:pPr>
            <a:r>
              <a:t>Pedidos y stock que requieren seguimiento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447288"/>
            <a:ext cx="91440" cy="91440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7" y="3346704"/>
            <a:ext cx="5102352" cy="6309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161616"/>
                </a:solidFill>
                <a:latin typeface="Aptos"/>
              </a:defRPr>
            </a:pPr>
            <a:r>
              <a:t>Gestión del catálogo y ventas con tareas manuales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800600"/>
            <a:ext cx="10835640" cy="91440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024128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La propuesta: reunir compra online y operaciones básicas en un mismo sistema.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6868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DD7432"/>
                </a:solidFill>
                <a:latin typeface="Aptos"/>
              </a:defRPr>
            </a:pPr>
            <a:r>
              <a:t>02  · 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61616"/>
                </a:solidFill>
                <a:latin typeface="Aptos"/>
              </a:defRPr>
            </a:pPr>
            <a:r>
              <a:t>Una experiencia de compra conectada con la gestión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384048" cy="41148"/>
          </a:xfrm>
          <a:prstGeom prst="rect">
            <a:avLst/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412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696A6C"/>
                </a:solidFill>
                <a:latin typeface="Aptos"/>
              </a:defRPr>
            </a:pPr>
            <a:r>
              <a:t>F&amp;R  ·  Sistema de tienda de ropa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6A6C"/>
                </a:solidFill>
                <a:latin typeface="Aptos"/>
              </a:defRPr>
            </a:pPr>
            <a:r>
              <a:t>1:00</a:t>
            </a:r>
          </a:p>
        </p:txBody>
      </p:sp>
      <p:pic>
        <p:nvPicPr>
          <p:cNvPr id="7" name="Picture 6" descr="cata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50694"/>
            <a:ext cx="5486400" cy="2419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1691640"/>
            <a:ext cx="47548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D7432"/>
                </a:solidFill>
                <a:latin typeface="Aptos"/>
              </a:defRPr>
            </a:pPr>
            <a:r>
              <a:t>PARA QUIEN COMPRA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157984"/>
            <a:ext cx="91440" cy="91440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9128" y="2057400"/>
            <a:ext cx="4462272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61616"/>
                </a:solidFill>
                <a:latin typeface="Aptos"/>
              </a:defRPr>
            </a:pPr>
            <a:r>
              <a:t>Explorar y filtrar prendas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752344"/>
            <a:ext cx="91440" cy="91440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2651760"/>
            <a:ext cx="4462272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61616"/>
                </a:solidFill>
                <a:latin typeface="Aptos"/>
              </a:defRPr>
            </a:pPr>
            <a:r>
              <a:t>Elegir talle, color y cantidad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346703"/>
            <a:ext cx="91440" cy="91440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39128" y="3246120"/>
            <a:ext cx="4462272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61616"/>
                </a:solidFill>
                <a:latin typeface="Aptos"/>
              </a:defRPr>
            </a:pPr>
            <a:r>
              <a:t>Armar un carrito y consultar compras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4160520"/>
            <a:ext cx="466344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D7432"/>
                </a:solidFill>
                <a:latin typeface="Aptos"/>
              </a:defRPr>
            </a:pPr>
            <a:r>
              <a:t>PARA QUIEN GESTIONA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526280"/>
            <a:ext cx="466344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161616"/>
                </a:solidFill>
                <a:latin typeface="Aptos"/>
              </a:defRPr>
            </a:pPr>
            <a:r>
              <a:t>Administrar productos y mantener el catálogo actualizado.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6868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DD7432"/>
                </a:solidFill>
                <a:latin typeface="Aptos"/>
              </a:defRPr>
            </a:pPr>
            <a:r>
              <a:t>03  ·  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61616"/>
                </a:solidFill>
                <a:latin typeface="Aptos"/>
              </a:defRPr>
            </a:pPr>
            <a:r>
              <a:t>El recorrido del dato, desde la pantalla hasta la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384048" cy="41148"/>
          </a:xfrm>
          <a:prstGeom prst="rect">
            <a:avLst/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412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696A6C"/>
                </a:solidFill>
                <a:latin typeface="Aptos"/>
              </a:defRPr>
            </a:pPr>
            <a:r>
              <a:t>F&amp;R  ·  Sistema de tienda de ropa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6A6C"/>
                </a:solidFill>
                <a:latin typeface="Aptos"/>
              </a:defRPr>
            </a:pPr>
            <a:r>
              <a:t>2:00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C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221992"/>
            <a:ext cx="20116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DD7432"/>
                </a:solidFill>
                <a:latin typeface="Aptos"/>
              </a:defRPr>
            </a:pPr>
            <a:r>
              <a:t>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60904"/>
            <a:ext cx="20574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61616"/>
                </a:solidFill>
                <a:latin typeface="Aptos"/>
              </a:defRPr>
            </a:pPr>
            <a:r>
              <a:t>Cliente / administrador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0088" y="2487168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300"/>
              </a:spcAft>
              <a:defRPr sz="2000" b="1">
                <a:solidFill>
                  <a:srgbClr val="DD743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965960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C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2221992"/>
            <a:ext cx="20116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DD7432"/>
                </a:solidFill>
                <a:latin typeface="Aptos"/>
              </a:defRPr>
            </a:pPr>
            <a:r>
              <a:t>FRFront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60904"/>
            <a:ext cx="20574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61616"/>
                </a:solidFill>
                <a:latin typeface="Aptos"/>
              </a:defRPr>
            </a:pPr>
            <a:r>
              <a:t>MVC · Razor · sesión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4728" y="2487168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300"/>
              </a:spcAft>
              <a:defRPr sz="2000" b="1">
                <a:solidFill>
                  <a:srgbClr val="DD743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965960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C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221992"/>
            <a:ext cx="20116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DD7432"/>
                </a:solidFill>
                <a:latin typeface="Aptos"/>
              </a:defRPr>
            </a:pPr>
            <a:r>
              <a:t>FYR-API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60904"/>
            <a:ext cx="20574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61616"/>
                </a:solidFill>
                <a:latin typeface="Aptos"/>
              </a:defRPr>
            </a:pPr>
            <a:r>
              <a:t>Minimal APIs · servicios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2487168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300"/>
              </a:spcAft>
              <a:defRPr sz="2000" b="1">
                <a:solidFill>
                  <a:srgbClr val="DD743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965960"/>
            <a:ext cx="233172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C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584" y="2221992"/>
            <a:ext cx="201168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DD7432"/>
                </a:solidFill>
                <a:latin typeface="Aptos"/>
              </a:defRPr>
            </a:pPr>
            <a:r>
              <a:t>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60904"/>
            <a:ext cx="20574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161616"/>
                </a:solidFill>
                <a:latin typeface="Aptos"/>
              </a:defRPr>
            </a:pPr>
            <a:r>
              <a:t>EF Core · SQL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86200"/>
            <a:ext cx="502920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D7432"/>
                </a:solidFill>
                <a:latin typeface="Aptos"/>
              </a:defRPr>
            </a:pPr>
            <a:r>
              <a:t>EJEMPLO: CONSULTA DE PRODUCTO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97680"/>
            <a:ext cx="502920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1616"/>
                </a:solidFill>
                <a:latin typeface="Aptos"/>
              </a:defRPr>
            </a:pPr>
            <a:r>
              <a:t>La vista pide el catálogo; la API consulta los datos y devuelve productos para mostrar.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886200"/>
            <a:ext cx="512064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D7432"/>
                </a:solidFill>
                <a:latin typeface="Aptos"/>
              </a:defRPr>
            </a:pPr>
            <a:r>
              <a:t>PERSISTENCIA DE LA COMPRA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297680"/>
            <a:ext cx="502920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900" b="1">
                <a:solidFill>
                  <a:srgbClr val="161616"/>
                </a:solidFill>
                <a:latin typeface="Aptos"/>
              </a:defRPr>
            </a:pPr>
            <a:r>
              <a:t>El frontend envía el pedido; la API lo registra con sus detalles en SQL Server.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577840"/>
            <a:ext cx="106984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696A6C"/>
                </a:solidFill>
                <a:latin typeface="Aptos"/>
              </a:defRPr>
            </a:pPr>
            <a:r>
              <a:t>.NET 10  ·  ASP.NET Core MVC  ·  Minimal APIs  ·  EF Core  ·  SQL Server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6868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DD7432"/>
                </a:solidFill>
                <a:latin typeface="Aptos"/>
              </a:defRPr>
            </a:pPr>
            <a:r>
              <a:t>04  ·  REQUERIMIENTOS FUNCIONALES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61616"/>
                </a:solidFill>
                <a:latin typeface="Aptos"/>
              </a:defRPr>
            </a:pPr>
            <a:r>
              <a:t>Tres funciones clave y sus casos de 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384048" cy="41148"/>
          </a:xfrm>
          <a:prstGeom prst="rect">
            <a:avLst/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412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696A6C"/>
                </a:solidFill>
                <a:latin typeface="Aptos"/>
              </a:defRPr>
            </a:pPr>
            <a:r>
              <a:t>F&amp;R  ·  Sistema de tienda de ropa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6A6C"/>
                </a:solidFill>
                <a:latin typeface="Aptos"/>
              </a:defRPr>
            </a:pPr>
            <a:r>
              <a:t>2:00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64208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C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28800"/>
            <a:ext cx="2880360" cy="8595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61616"/>
                </a:solidFill>
                <a:latin typeface="Aptos"/>
              </a:defRPr>
            </a:pPr>
            <a:r>
              <a:t>RF 9.1 · Gestión de productos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10512"/>
            <a:ext cx="33375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61616"/>
                </a:solidFill>
                <a:latin typeface="Aptos"/>
              </a:defRPr>
            </a:pPr>
            <a:r>
              <a:t>CU-P1 propuesto · Administrar producto</a:t>
            </a:r>
          </a:p>
          <a:p>
            <a:pPr>
              <a:spcAft>
                <a:spcPts val="300"/>
              </a:spcAft>
              <a:defRPr sz="1300" b="0">
                <a:solidFill>
                  <a:srgbClr val="161616"/>
                </a:solidFill>
                <a:latin typeface="Aptos"/>
              </a:defRPr>
            </a:pPr>
            <a:r>
              <a:t>Administrador · crear / editar / eliminar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810512"/>
            <a:ext cx="393192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96A6C"/>
                </a:solidFill>
                <a:latin typeface="Aptos"/>
              </a:defRPr>
            </a:pPr>
            <a:r>
              <a:t>ProductoController · vistas Crear, Modificar, Index</a:t>
            </a:r>
          </a:p>
          <a:p>
            <a:pPr>
              <a:spcAft>
                <a:spcPts val="300"/>
              </a:spcAft>
              <a:defRPr sz="1200" b="0">
                <a:solidFill>
                  <a:srgbClr val="696A6C"/>
                </a:solidFill>
                <a:latin typeface="Aptos"/>
              </a:defRPr>
            </a:pPr>
            <a:r>
              <a:t>Pantalla: gestión de productos · resultado: catálogo actualizado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99816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C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264408"/>
            <a:ext cx="2880360" cy="8595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61616"/>
                </a:solidFill>
                <a:latin typeface="Aptos"/>
              </a:defRPr>
            </a:pPr>
            <a:r>
              <a:t>RF 9.2 · Consulta y filtros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46120"/>
            <a:ext cx="33375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61616"/>
                </a:solidFill>
                <a:latin typeface="Aptos"/>
              </a:defRPr>
            </a:pPr>
            <a:r>
              <a:t>CU-P2 propuesto · Buscar prendas</a:t>
            </a:r>
          </a:p>
          <a:p>
            <a:pPr>
              <a:spcAft>
                <a:spcPts val="300"/>
              </a:spcAft>
              <a:defRPr sz="1300" b="0">
                <a:solidFill>
                  <a:srgbClr val="161616"/>
                </a:solidFill>
                <a:latin typeface="Aptos"/>
              </a:defRPr>
            </a:pPr>
            <a:r>
              <a:t>Cliente · filtrar categoría, color o talle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246120"/>
            <a:ext cx="393192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96A6C"/>
                </a:solidFill>
                <a:latin typeface="Aptos"/>
              </a:defRPr>
            </a:pPr>
            <a:r>
              <a:t>HomeController.Catalogo · _CatalogoProductos</a:t>
            </a:r>
          </a:p>
          <a:p>
            <a:pPr>
              <a:spcAft>
                <a:spcPts val="300"/>
              </a:spcAft>
              <a:defRPr sz="1200" b="0">
                <a:solidFill>
                  <a:srgbClr val="696A6C"/>
                </a:solidFill>
                <a:latin typeface="Aptos"/>
              </a:defRPr>
            </a:pPr>
            <a:r>
              <a:t>Pantalla: catálogo · resultado: lista filtrada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535424"/>
            <a:ext cx="109728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C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700016"/>
            <a:ext cx="2880360" cy="8595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61616"/>
                </a:solidFill>
                <a:latin typeface="Aptos"/>
              </a:defRPr>
            </a:pPr>
            <a:r>
              <a:t>RF 9.3 · Acceso por 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681728"/>
            <a:ext cx="333756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61616"/>
                </a:solidFill>
                <a:latin typeface="Aptos"/>
              </a:defRPr>
            </a:pPr>
            <a:r>
              <a:t>CU-P3 propuesto · Iniciar sesión y navegar</a:t>
            </a:r>
          </a:p>
          <a:p>
            <a:pPr>
              <a:spcAft>
                <a:spcPts val="300"/>
              </a:spcAft>
              <a:defRPr sz="1300" b="0">
                <a:solidFill>
                  <a:srgbClr val="161616"/>
                </a:solidFill>
                <a:latin typeface="Aptos"/>
              </a:defRPr>
            </a:pPr>
            <a:r>
              <a:t>Administrador / empleado / cliente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681728"/>
            <a:ext cx="393192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96A6C"/>
                </a:solidFill>
                <a:latin typeface="Aptos"/>
              </a:defRPr>
            </a:pPr>
            <a:r>
              <a:t>AccountController · Rol.cs</a:t>
            </a:r>
          </a:p>
          <a:p>
            <a:pPr>
              <a:spcAft>
                <a:spcPts val="300"/>
              </a:spcAft>
              <a:defRPr sz="1200" b="0">
                <a:solidFill>
                  <a:srgbClr val="696A6C"/>
                </a:solidFill>
                <a:latin typeface="Aptos"/>
              </a:defRPr>
            </a:pPr>
            <a:r>
              <a:t>Pantalla: ingreso y menú por rol · acceso de interfaz diferenciado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053328"/>
            <a:ext cx="1097280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96A6C"/>
                </a:solidFill>
                <a:latin typeface="Aptos"/>
              </a:defRPr>
            </a:pPr>
            <a:r>
              <a:t>Códigos 9.1–9.3 conservan la numeración de cumplimiento del PDF. CU-P1–P5 son propuestas, porque la documentación no identifica CUs formales.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6868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DD7432"/>
                </a:solidFill>
                <a:latin typeface="Aptos"/>
              </a:defRPr>
            </a:pPr>
            <a:r>
              <a:t>04  ·  REQUERIMIENTOS FUNCIONALES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61616"/>
                </a:solidFill>
                <a:latin typeface="Aptos"/>
              </a:defRPr>
            </a:pPr>
            <a:r>
              <a:t>La compra también deja un registro consultable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384048" cy="41148"/>
          </a:xfrm>
          <a:prstGeom prst="rect">
            <a:avLst/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412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696A6C"/>
                </a:solidFill>
                <a:latin typeface="Aptos"/>
              </a:defRPr>
            </a:pPr>
            <a:r>
              <a:t>F&amp;R  ·  Sistema de tienda de ropa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6A6C"/>
                </a:solidFill>
                <a:latin typeface="Aptos"/>
              </a:defRPr>
            </a:pPr>
            <a:r>
              <a:t>2:00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10972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C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78892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61616"/>
                </a:solidFill>
                <a:latin typeface="Aptos"/>
              </a:defRPr>
            </a:pPr>
            <a:r>
              <a:t>RF 9.4 · Carrito y proceso de compra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011680"/>
            <a:ext cx="324612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61616"/>
                </a:solidFill>
                <a:latin typeface="Aptos"/>
              </a:defRPr>
            </a:pPr>
            <a:r>
              <a:t>CU-P4 propuesto · Preparar y confirmar pedido</a:t>
            </a:r>
          </a:p>
          <a:p>
            <a:pPr>
              <a:spcAft>
                <a:spcPts val="300"/>
              </a:spcAft>
              <a:defRPr sz="1400" b="0">
                <a:solidFill>
                  <a:srgbClr val="161616"/>
                </a:solidFill>
                <a:latin typeface="Aptos"/>
              </a:defRPr>
            </a:pPr>
            <a:r>
              <a:t>Cliente · elegir artículo, cantidad y envío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011680"/>
            <a:ext cx="3977639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696A6C"/>
                </a:solidFill>
                <a:latin typeface="Aptos"/>
              </a:defRPr>
            </a:pPr>
            <a:r>
              <a:t>CarritoController · CheckoutController</a:t>
            </a:r>
          </a:p>
          <a:p>
            <a:pPr>
              <a:spcAft>
                <a:spcPts val="300"/>
              </a:spcAft>
              <a:defRPr sz="1300" b="0">
                <a:solidFill>
                  <a:srgbClr val="696A6C"/>
                </a:solidFill>
                <a:latin typeface="Aptos"/>
              </a:defRPr>
            </a:pPr>
            <a:r>
              <a:t>Pantalla: carrito / checkout · resultado: pedido registrado</a:t>
            </a:r>
          </a:p>
          <a:p>
            <a:pPr>
              <a:spcAft>
                <a:spcPts val="300"/>
              </a:spcAft>
              <a:defRPr sz="1300" b="0">
                <a:solidFill>
                  <a:srgbClr val="696A6C"/>
                </a:solidFill>
                <a:latin typeface="Aptos"/>
              </a:defRPr>
            </a:pPr>
            <a:r>
              <a:t>Pago simulado, sin pasarela bancaria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20440"/>
            <a:ext cx="10972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CE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278892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600" b="1">
                <a:solidFill>
                  <a:srgbClr val="161616"/>
                </a:solidFill>
                <a:latin typeface="Aptos"/>
              </a:defRPr>
            </a:pPr>
            <a:r>
              <a:t>RF 9.5 · Compras y seguimiento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703320"/>
            <a:ext cx="324612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61616"/>
                </a:solidFill>
                <a:latin typeface="Aptos"/>
              </a:defRPr>
            </a:pPr>
            <a:r>
              <a:t>CU-P5 propuesto · Consultar compra</a:t>
            </a:r>
          </a:p>
          <a:p>
            <a:pPr>
              <a:spcAft>
                <a:spcPts val="300"/>
              </a:spcAft>
              <a:defRPr sz="1400" b="0">
                <a:solidFill>
                  <a:srgbClr val="161616"/>
                </a:solidFill>
                <a:latin typeface="Aptos"/>
              </a:defRPr>
            </a:pPr>
            <a:r>
              <a:t>Cliente · revisar estado y detalle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703320"/>
            <a:ext cx="3977639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696A6C"/>
                </a:solidFill>
                <a:latin typeface="Aptos"/>
              </a:defRPr>
            </a:pPr>
            <a:r>
              <a:t>ClienteController.MisCompras · PedidoEndpoints</a:t>
            </a:r>
          </a:p>
          <a:p>
            <a:pPr>
              <a:spcAft>
                <a:spcPts val="300"/>
              </a:spcAft>
              <a:defRPr sz="1300" b="0">
                <a:solidFill>
                  <a:srgbClr val="696A6C"/>
                </a:solidFill>
                <a:latin typeface="Aptos"/>
              </a:defRPr>
            </a:pPr>
            <a:r>
              <a:t>Pantalla: Mis compras · resultado: pedido, fecha, estado y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77840"/>
            <a:ext cx="10698480" cy="43891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500" b="1">
                <a:solidFill>
                  <a:srgbClr val="DD7432"/>
                </a:solidFill>
                <a:latin typeface="Aptos"/>
              </a:defRPr>
            </a:pPr>
            <a:r>
              <a:t>El registro del pedido existe; el cobro real y el seguimiento logístico externo no están demostrados.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6868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DD7432"/>
                </a:solidFill>
                <a:latin typeface="Aptos"/>
              </a:defRPr>
            </a:pPr>
            <a:r>
              <a:t>05  ·  DEMO FORMAL EN NAVEGADOR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61616"/>
                </a:solidFill>
                <a:latin typeface="Aptos"/>
              </a:defRPr>
            </a:pPr>
            <a:r>
              <a:t>Demostración integrada: descubrir, elegir y consultar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384048" cy="41148"/>
          </a:xfrm>
          <a:prstGeom prst="rect">
            <a:avLst/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412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696A6C"/>
                </a:solidFill>
                <a:latin typeface="Aptos"/>
              </a:defRPr>
            </a:pPr>
            <a:r>
              <a:t>F&amp;R  ·  Sistema de tienda de ropa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6A6C"/>
                </a:solidFill>
                <a:latin typeface="Aptos"/>
              </a:defRPr>
            </a:pPr>
            <a:r>
              <a:t>5:00</a:t>
            </a:r>
          </a:p>
        </p:txBody>
      </p:sp>
      <p:pic>
        <p:nvPicPr>
          <p:cNvPr id="7" name="Picture 6" descr="detal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43264"/>
            <a:ext cx="3611880" cy="1780414"/>
          </a:xfrm>
          <a:prstGeom prst="rect">
            <a:avLst/>
          </a:prstGeom>
        </p:spPr>
      </p:pic>
      <p:pic>
        <p:nvPicPr>
          <p:cNvPr id="8" name="Picture 7" descr="carri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484" y="1664208"/>
            <a:ext cx="3406270" cy="1938528"/>
          </a:xfrm>
          <a:prstGeom prst="rect">
            <a:avLst/>
          </a:prstGeom>
        </p:spPr>
      </p:pic>
      <p:pic>
        <p:nvPicPr>
          <p:cNvPr id="9" name="Picture 8" descr="compra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1" y="1712442"/>
            <a:ext cx="3611880" cy="18420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3794760"/>
            <a:ext cx="352044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DD7432"/>
                </a:solidFill>
                <a:latin typeface="Aptos"/>
              </a:defRPr>
            </a:pPr>
            <a:r>
              <a:t>1  Catálogo y detalle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142232"/>
            <a:ext cx="352044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61616"/>
                </a:solidFill>
                <a:latin typeface="Aptos"/>
              </a:defRPr>
            </a:pPr>
            <a:r>
              <a:t>Filtrar y elegir una prenda. Señalar talle, color, cantidad y stock.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794760"/>
            <a:ext cx="352044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DD7432"/>
                </a:solidFill>
                <a:latin typeface="Aptos"/>
              </a:defRPr>
            </a:pPr>
            <a:r>
              <a:t>2  Carrito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4142232"/>
            <a:ext cx="352044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61616"/>
                </a:solidFill>
                <a:latin typeface="Aptos"/>
              </a:defRPr>
            </a:pPr>
            <a:r>
              <a:t>Revisar artículo, cantidad y total. El cobro actual es simulado.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794760"/>
            <a:ext cx="3520440" cy="32918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DD7432"/>
                </a:solidFill>
                <a:latin typeface="Aptos"/>
              </a:defRPr>
            </a:pPr>
            <a:r>
              <a:t>3  Mis compras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142232"/>
            <a:ext cx="3520440" cy="9144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161616"/>
                </a:solidFill>
                <a:latin typeface="Aptos"/>
              </a:defRPr>
            </a:pPr>
            <a:r>
              <a:t>Mostrar el registro de compra y su estado. No implica seguimiento logístico externo.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696A6C"/>
                </a:solidFill>
                <a:latin typeface="Aptos"/>
              </a:defRPr>
            </a:pPr>
            <a:r>
              <a:t>Pasar al navegador después de la diapositiva 6. Volver aquí al cerrar el historial.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6868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DD7432"/>
                </a:solidFill>
                <a:latin typeface="Aptos"/>
              </a:defRPr>
            </a:pPr>
            <a:r>
              <a:t>06  ·  FUNCIONES INTERNAS Y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61616"/>
                </a:solidFill>
                <a:latin typeface="Aptos"/>
              </a:defRPr>
            </a:pPr>
            <a:r>
              <a:t>Gestión visible y calidad con alcance claro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384048" cy="41148"/>
          </a:xfrm>
          <a:prstGeom prst="rect">
            <a:avLst/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412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696A6C"/>
                </a:solidFill>
                <a:latin typeface="Aptos"/>
              </a:defRPr>
            </a:pPr>
            <a:r>
              <a:t>F&amp;R  ·  Sistema de tienda de ropa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6A6C"/>
                </a:solidFill>
                <a:latin typeface="Aptos"/>
              </a:defRPr>
            </a:pPr>
            <a:r>
              <a:t>2:30</a:t>
            </a:r>
          </a:p>
        </p:txBody>
      </p:sp>
      <p:pic>
        <p:nvPicPr>
          <p:cNvPr id="7" name="Picture 6" descr="adm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66082"/>
            <a:ext cx="5532120" cy="3086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1682496"/>
            <a:ext cx="502920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D7432"/>
                </a:solidFill>
                <a:latin typeface="Aptos"/>
              </a:defRPr>
            </a:pPr>
            <a:r>
              <a:t>CINCO ATRIBUTOS CONTEMPLADOS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084831"/>
            <a:ext cx="256032" cy="256032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048255"/>
            <a:ext cx="45720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61616"/>
                </a:solidFill>
                <a:latin typeface="Aptos"/>
              </a:defRPr>
            </a:pPr>
            <a:r>
              <a:t>Seguridad y privacidad: BCrypt, HTTPS redirect y antiforgery; protección integral de API/datos no verificada.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807208"/>
            <a:ext cx="256032" cy="256032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770632"/>
            <a:ext cx="45720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61616"/>
                </a:solidFill>
                <a:latin typeface="Aptos"/>
              </a:defRPr>
            </a:pPr>
            <a:r>
              <a:t>Confiabilidad: health check y persistencia; disponibilidad y transacciones atómicas no comprobadas.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529584"/>
            <a:ext cx="256032" cy="256032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3493008"/>
            <a:ext cx="45720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61616"/>
                </a:solidFill>
                <a:latin typeface="Aptos"/>
              </a:defRPr>
            </a:pPr>
            <a:r>
              <a:t>Usabilidad/adaptabilidad: Bootstrap y grillas responsivas; accesibilidad requiere auditoría.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251960"/>
            <a:ext cx="256032" cy="256032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215384"/>
            <a:ext cx="45720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61616"/>
                </a:solidFill>
                <a:latin typeface="Aptos"/>
              </a:defRPr>
            </a:pPr>
            <a:r>
              <a:t>Modularidad y mantenimiento: frontend MVC, API, servicios, repositorios y DTOs separados.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974336"/>
            <a:ext cx="256032" cy="256032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937759"/>
            <a:ext cx="457200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161616"/>
                </a:solidFill>
                <a:latin typeface="Aptos"/>
              </a:defRPr>
            </a:pPr>
            <a:r>
              <a:t>Persistencia/integración: API y EF Core gestionan datos en SQL Server.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29200"/>
            <a:ext cx="539496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161616"/>
                </a:solidFill>
                <a:latin typeface="Aptos"/>
              </a:defRPr>
            </a:pPr>
            <a:r>
              <a:t>En vivo: panel de productos → buscar un artículo → mostrar precio y stock. Evitar guardar cambios durante la exposición.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70448"/>
            <a:ext cx="10881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D7432"/>
                </a:solidFill>
                <a:latin typeface="Aptos"/>
              </a:defRPr>
            </a:pPr>
            <a:r>
              <a:t>Rendimiento, disponibilidad, copias de seguridad y seguridad completa necesitan pruebas o implementación adicional.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6868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DD7432"/>
                </a:solidFill>
                <a:latin typeface="Aptos"/>
              </a:defRPr>
            </a:pPr>
            <a:r>
              <a:t>07  · 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2800" b="1">
                <a:solidFill>
                  <a:srgbClr val="161616"/>
                </a:solidFill>
                <a:latin typeface="Aptos"/>
              </a:defRPr>
            </a:pPr>
            <a:r>
              <a:t>Lo logrado y lo que sigue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384048" cy="41148"/>
          </a:xfrm>
          <a:prstGeom prst="rect">
            <a:avLst/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84124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900" b="0">
                <a:solidFill>
                  <a:srgbClr val="696A6C"/>
                </a:solidFill>
                <a:latin typeface="Aptos"/>
              </a:defRPr>
            </a:pPr>
            <a:r>
              <a:t>F&amp;R  ·  Sistema de tienda de ropa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0515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>
              <a:spcAft>
                <a:spcPts val="300"/>
              </a:spcAft>
              <a:defRPr sz="1000" b="1">
                <a:solidFill>
                  <a:srgbClr val="696A6C"/>
                </a:solidFill>
                <a:latin typeface="Aptos"/>
              </a:defRPr>
            </a:pPr>
            <a:r>
              <a:t>1:30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49377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D7432"/>
                </a:solidFill>
                <a:latin typeface="Aptos"/>
              </a:defRPr>
            </a:pPr>
            <a:r>
              <a:t>LOGROS DEMOSTRABLES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21991"/>
            <a:ext cx="91440" cy="91440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121408"/>
            <a:ext cx="4919472" cy="6309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61616"/>
                </a:solidFill>
                <a:latin typeface="Aptos"/>
              </a:defRPr>
            </a:pPr>
            <a:r>
              <a:t>Catálogo con consulta y filtros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91440" cy="91440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779776"/>
            <a:ext cx="4919472" cy="6309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61616"/>
                </a:solidFill>
                <a:latin typeface="Aptos"/>
              </a:defRPr>
            </a:pPr>
            <a:r>
              <a:t>Gestión de productos y stock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38727"/>
            <a:ext cx="91440" cy="91440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438144"/>
            <a:ext cx="4919472" cy="6309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61616"/>
                </a:solidFill>
                <a:latin typeface="Aptos"/>
              </a:defRPr>
            </a:pPr>
            <a:r>
              <a:t>Carrito, pedidos e historial de compras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37360"/>
            <a:ext cx="493776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D7432"/>
                </a:solidFill>
                <a:latin typeface="Aptos"/>
              </a:defRPr>
            </a:pPr>
            <a:r>
              <a:t>PRÓXIMAS MEJORAS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221991"/>
            <a:ext cx="91440" cy="91440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121408"/>
            <a:ext cx="4919472" cy="6309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61616"/>
                </a:solidFill>
                <a:latin typeface="Aptos"/>
              </a:defRPr>
            </a:pPr>
            <a:r>
              <a:t>Pasarela de pago real y transacciones robustas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880360"/>
            <a:ext cx="91440" cy="91440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779776"/>
            <a:ext cx="4919472" cy="6309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61616"/>
                </a:solidFill>
                <a:latin typeface="Aptos"/>
              </a:defRPr>
            </a:pPr>
            <a:r>
              <a:t>Aislamiento multiempresa y autorización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538727"/>
            <a:ext cx="91440" cy="91440"/>
          </a:xfrm>
          <a:prstGeom prst="roundRect">
            <a:avLst>
              <a:gd name="adj" fmla="val 8000"/>
            </a:avLst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438144"/>
            <a:ext cx="4919472" cy="6309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61616"/>
                </a:solidFill>
                <a:latin typeface="Aptos"/>
              </a:defRPr>
            </a:pPr>
            <a:r>
              <a:t>Tabla de talles y varias imágenes por producto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10789920" cy="868680"/>
          </a:xfrm>
          <a:prstGeom prst="roundRect">
            <a:avLst>
              <a:gd name="adj" fmla="val 8000"/>
            </a:avLst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38928"/>
            <a:ext cx="102412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F&amp;R ya resuelve un recorrido de compra y gestión; el siguiente paso es robustecer seguridad e integración.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D7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DD7432"/>
                </a:solidFill>
                <a:latin typeface="Aptos"/>
              </a:defRPr>
            </a:pPr>
            <a:r>
              <a:t>F&amp;R  ·  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9875520" cy="10972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Una tienda online</a:t>
            </a:r>
          </a:p>
          <a:p>
            <a:pPr>
              <a:spcAft>
                <a:spcPts val="3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con gestión conectada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896112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Gracias. ¿Qué parte del recorrido quieren que revisemos?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73152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BEBEBE"/>
                </a:solidFill>
                <a:latin typeface="Aptos"/>
              </a:defRPr>
            </a:pPr>
            <a:r>
              <a:t>20 minutos formales  ·  hasta 10 minutos para ampliar y responder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F&amp;R | Presentación del sistema de tienda de ropa online</dc:title>
  <dc:subject>Exposición ICES de 20 minutos con demostración web integrada</dc:subject>
  <dc:creator>F&amp;R - Proyecto académico ICES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